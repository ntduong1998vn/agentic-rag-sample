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0C1A1E-B4E2-14DC-415B-88174ED3E27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696C3B-56CB-4748-B1C0-F495126E86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E6CB27D-4CBF-D65A-3A3D-135AB70FFE25}"/>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5" name="フッター プレースホルダー 4">
            <a:extLst>
              <a:ext uri="{FF2B5EF4-FFF2-40B4-BE49-F238E27FC236}">
                <a16:creationId xmlns:a16="http://schemas.microsoft.com/office/drawing/2014/main" id="{2F08C63D-76E6-FB66-A98C-51976643F88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78D295E-AFBB-E9C5-F197-96D9599334FF}"/>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21150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7EB52E-6491-9FA2-40D1-B57DE9D315D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91B54ED-7988-22FA-9A3D-397A8903086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22C6FD3-F48C-30A9-3900-0FC440AEE9F9}"/>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5" name="フッター プレースホルダー 4">
            <a:extLst>
              <a:ext uri="{FF2B5EF4-FFF2-40B4-BE49-F238E27FC236}">
                <a16:creationId xmlns:a16="http://schemas.microsoft.com/office/drawing/2014/main" id="{90509435-A088-5EEB-7B28-4DC1B541DAD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002B10-D58E-D042-C25E-0CAB5E7D89BC}"/>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710809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54003A-DE1B-2DC0-F961-5A5C79CF737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E5CAFC-25E3-C98E-6C6D-B344BE2DB7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5011752-F725-260D-8411-4C141DD26788}"/>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5" name="フッター プレースホルダー 4">
            <a:extLst>
              <a:ext uri="{FF2B5EF4-FFF2-40B4-BE49-F238E27FC236}">
                <a16:creationId xmlns:a16="http://schemas.microsoft.com/office/drawing/2014/main" id="{43BEA22E-FD7D-72EA-601B-C2468432C5A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97782B-5315-1C30-126A-C65908453B52}"/>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3039103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5ADEE4-5BB4-34EB-B560-AC643EAF21E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E20AC3-B09F-E5D1-4B2E-1554411AB4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FC36A5-DE39-3D74-1EED-6B0A156A112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AAD867E-4A27-2AE2-9AB9-81EE39C0AD48}"/>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6" name="フッター プレースホルダー 5">
            <a:extLst>
              <a:ext uri="{FF2B5EF4-FFF2-40B4-BE49-F238E27FC236}">
                <a16:creationId xmlns:a16="http://schemas.microsoft.com/office/drawing/2014/main" id="{74EFE667-5E0B-AF00-2615-92F1C6C79A6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B296852-3681-62C5-A8CC-D8BB41B60B2D}"/>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1765782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1F8609-B789-D3C3-E33A-EB08BEF87A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8D25935-1147-FAED-3E91-9C7F6199D3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5E502A1-B44D-190C-357C-C2F59C478E1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1741F49-49C5-A6DE-445B-68C58571C9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486E4AE-5416-E79B-30FC-FEAB5A5D635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1DFC036-978A-9237-94DA-AE6905994057}"/>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8" name="フッター プレースホルダー 7">
            <a:extLst>
              <a:ext uri="{FF2B5EF4-FFF2-40B4-BE49-F238E27FC236}">
                <a16:creationId xmlns:a16="http://schemas.microsoft.com/office/drawing/2014/main" id="{D9ADEF3E-E6FC-94B3-A239-6C551C85541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92CE32F-EB9B-00A7-337A-2EF69E691C10}"/>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2578781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2A93A6-AA50-938E-AB29-7E18429973E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1578E14-36BF-E036-A6C1-AECD4EB5DA42}"/>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4" name="フッター プレースホルダー 3">
            <a:extLst>
              <a:ext uri="{FF2B5EF4-FFF2-40B4-BE49-F238E27FC236}">
                <a16:creationId xmlns:a16="http://schemas.microsoft.com/office/drawing/2014/main" id="{65C95B83-108A-C0AD-2B6C-3E21DE0D339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5A61F85-AB1E-3760-28A8-43F7A41D1FBC}"/>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373892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F856A02-2E14-AE91-200C-10C114B2016E}"/>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3" name="フッター プレースホルダー 2">
            <a:extLst>
              <a:ext uri="{FF2B5EF4-FFF2-40B4-BE49-F238E27FC236}">
                <a16:creationId xmlns:a16="http://schemas.microsoft.com/office/drawing/2014/main" id="{3E7AEDA5-F355-2BB3-579E-0CC3B36241F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442BE00-6F1E-1A9C-8F46-909FBF708C6C}"/>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235072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71B618-A1CE-2E70-562C-B616D0E2B3E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E190CD3-07A8-29D0-59F3-1DB1A4189C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A77658E-D02B-190E-1448-7F9AA7061D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ACB3791-AC43-4D3E-721B-A945412031CE}"/>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6" name="フッター プレースホルダー 5">
            <a:extLst>
              <a:ext uri="{FF2B5EF4-FFF2-40B4-BE49-F238E27FC236}">
                <a16:creationId xmlns:a16="http://schemas.microsoft.com/office/drawing/2014/main" id="{2AC900FA-56A7-FCF2-EB76-ADFDC947E88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8C5D958-EDC1-3825-9032-1B3EADA704DA}"/>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195786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F79BF1-E730-7B08-F2E8-2C5794FDAE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45735A0-4B08-121E-BB77-85F6934AF4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ACD4D95-AD46-95C5-1F32-E531081872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7BF8223-BD7F-FDDA-9C46-0966CBFD85AD}"/>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6" name="フッター プレースホルダー 5">
            <a:extLst>
              <a:ext uri="{FF2B5EF4-FFF2-40B4-BE49-F238E27FC236}">
                <a16:creationId xmlns:a16="http://schemas.microsoft.com/office/drawing/2014/main" id="{F3160070-326A-63BF-FC36-C08F6F4544B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53416F7-7A7D-D224-4F4C-A65FDE2789B9}"/>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3451491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049C44-2791-B345-AC69-6AC1A1A4BEF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BBC73A1-5929-B525-08AE-4AE74CCEE78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514F1BC-551A-9B15-D0F6-718989B29143}"/>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5" name="フッター プレースホルダー 4">
            <a:extLst>
              <a:ext uri="{FF2B5EF4-FFF2-40B4-BE49-F238E27FC236}">
                <a16:creationId xmlns:a16="http://schemas.microsoft.com/office/drawing/2014/main" id="{D7E09A39-4FE7-CC21-7CB4-13A506EFA2B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3DBD42F-0B44-87C5-F35A-831DFCD69A21}"/>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610583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F87269A-CD38-EF8A-48BE-FEF47869614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371F03A-ED32-6600-73A2-0E24524B8F9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0DA13F-EBB7-8C51-D9ED-B7F52A1D8137}"/>
              </a:ext>
            </a:extLst>
          </p:cNvPr>
          <p:cNvSpPr>
            <a:spLocks noGrp="1"/>
          </p:cNvSpPr>
          <p:nvPr>
            <p:ph type="dt" sz="half" idx="10"/>
          </p:nvPr>
        </p:nvSpPr>
        <p:spPr/>
        <p:txBody>
          <a:bodyPr/>
          <a:lstStyle/>
          <a:p>
            <a:fld id="{DDBD4EEF-84E0-457A-B7A7-F02CB99C8E43}" type="datetimeFigureOut">
              <a:rPr kumimoji="1" lang="ja-JP" altLang="en-US" smtClean="0"/>
              <a:t>2025/10/17</a:t>
            </a:fld>
            <a:endParaRPr kumimoji="1" lang="ja-JP" altLang="en-US"/>
          </a:p>
        </p:txBody>
      </p:sp>
      <p:sp>
        <p:nvSpPr>
          <p:cNvPr id="5" name="フッター プレースホルダー 4">
            <a:extLst>
              <a:ext uri="{FF2B5EF4-FFF2-40B4-BE49-F238E27FC236}">
                <a16:creationId xmlns:a16="http://schemas.microsoft.com/office/drawing/2014/main" id="{074CA63C-7F33-5A50-9A61-5EFE7A88F35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690B4C-DBC7-4E6C-665B-A4213899D641}"/>
              </a:ext>
            </a:extLst>
          </p:cNvPr>
          <p:cNvSpPr>
            <a:spLocks noGrp="1"/>
          </p:cNvSpPr>
          <p:nvPr>
            <p:ph type="sldNum" sz="quarter" idx="12"/>
          </p:nvPr>
        </p:nvSpPr>
        <p:spPr/>
        <p:txBody>
          <a:body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2901270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17CEA25-7630-2808-96D2-F52EDE30D4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07521BF-6E07-E8D0-DF46-383049F138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06AE82D-5C99-7029-D1C3-A5EA903F2E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BD4EEF-84E0-457A-B7A7-F02CB99C8E43}" type="datetimeFigureOut">
              <a:rPr kumimoji="1" lang="ja-JP" altLang="en-US" smtClean="0"/>
              <a:t>2025/10/17</a:t>
            </a:fld>
            <a:endParaRPr kumimoji="1" lang="ja-JP" altLang="en-US"/>
          </a:p>
        </p:txBody>
      </p:sp>
      <p:sp>
        <p:nvSpPr>
          <p:cNvPr id="5" name="フッター プレースホルダー 4">
            <a:extLst>
              <a:ext uri="{FF2B5EF4-FFF2-40B4-BE49-F238E27FC236}">
                <a16:creationId xmlns:a16="http://schemas.microsoft.com/office/drawing/2014/main" id="{28AA3591-3133-21E2-3FA3-0C3A487D35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3014FA8-AD6A-34FB-D4AA-02A1B9029A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381DD3-4905-4D10-98F2-3C1CF33472FC}" type="slidenum">
              <a:rPr kumimoji="1" lang="ja-JP" altLang="en-US" smtClean="0"/>
              <a:t>‹#›</a:t>
            </a:fld>
            <a:endParaRPr kumimoji="1" lang="ja-JP" altLang="en-US"/>
          </a:p>
        </p:txBody>
      </p:sp>
    </p:spTree>
    <p:extLst>
      <p:ext uri="{BB962C8B-B14F-4D97-AF65-F5344CB8AC3E}">
        <p14:creationId xmlns:p14="http://schemas.microsoft.com/office/powerpoint/2010/main" val="656360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9844AF6D-EFE6-82A7-D53D-1EF6228D6D13}"/>
              </a:ext>
            </a:extLst>
          </p:cNvPr>
          <p:cNvSpPr txBox="1"/>
          <p:nvPr/>
        </p:nvSpPr>
        <p:spPr>
          <a:xfrm>
            <a:off x="161365" y="1437946"/>
            <a:ext cx="9780494" cy="2385268"/>
          </a:xfrm>
          <a:prstGeom prst="rect">
            <a:avLst/>
          </a:prstGeom>
          <a:noFill/>
          <a:ln>
            <a:noFill/>
          </a:ln>
        </p:spPr>
        <p:txBody>
          <a:bodyPr wrap="square" rtlCol="0">
            <a:spAutoFit/>
          </a:bodyPr>
          <a:lstStyle/>
          <a:p>
            <a:r>
              <a:rPr lang="ja-JP" altLang="en-US" sz="1400" dirty="0"/>
              <a:t>－－－－－－－－－－－－－－－－－－－－－－－－－－－－－－－－－－－－－－－－－－－－－－－－－－－</a:t>
            </a:r>
            <a:endParaRPr lang="en-US" altLang="ja-JP" sz="1400" dirty="0"/>
          </a:p>
          <a:p>
            <a:r>
              <a:rPr lang="en-US" altLang="ja-JP" sz="1400" dirty="0"/>
              <a:t>1. </a:t>
            </a:r>
            <a:r>
              <a:rPr lang="ja-JP" altLang="ja-JP" sz="1400" dirty="0"/>
              <a:t>税理士法人ナナイロ／青木幹雄公認会計士事務所（</a:t>
            </a:r>
            <a:r>
              <a:rPr lang="en-US" altLang="ja-JP" sz="1400" dirty="0"/>
              <a:t>https://nanairo-group.co.jp/  </a:t>
            </a:r>
            <a:r>
              <a:rPr lang="ja-JP" altLang="ja-JP" sz="1400" dirty="0"/>
              <a:t>）</a:t>
            </a:r>
          </a:p>
          <a:p>
            <a:r>
              <a:rPr lang="en-US" altLang="ja-JP" sz="1400" dirty="0"/>
              <a:t> </a:t>
            </a:r>
            <a:endParaRPr lang="ja-JP" altLang="ja-JP" sz="1400" dirty="0"/>
          </a:p>
          <a:p>
            <a:r>
              <a:rPr lang="ja-JP" altLang="ja-JP" sz="1400" dirty="0"/>
              <a:t>①記帳代行の勘定科目で同じような間違いにアラート（修正を促す）機能</a:t>
            </a:r>
            <a:endParaRPr lang="en-US" altLang="ja-JP" sz="1400" dirty="0"/>
          </a:p>
          <a:p>
            <a:r>
              <a:rPr lang="ja-JP" altLang="en-US" sz="1400" dirty="0">
                <a:solidFill>
                  <a:schemeClr val="accent6"/>
                </a:solidFill>
              </a:rPr>
              <a:t>⇒アラートはあくまでアラートのみ、修正しないと次に進めない会計ソフトもある。</a:t>
            </a:r>
            <a:endParaRPr lang="en-US" altLang="ja-JP" sz="1400" dirty="0">
              <a:solidFill>
                <a:schemeClr val="accent6"/>
              </a:solidFill>
            </a:endParaRPr>
          </a:p>
          <a:p>
            <a:r>
              <a:rPr lang="ja-JP" altLang="en-US" sz="1400" dirty="0">
                <a:solidFill>
                  <a:schemeClr val="accent6"/>
                </a:solidFill>
              </a:rPr>
              <a:t>　ここで実装が可能であれば、あくまでアラートのみの機能としてほしい。</a:t>
            </a:r>
            <a:endParaRPr lang="ja-JP" altLang="ja-JP" sz="1400" dirty="0">
              <a:solidFill>
                <a:schemeClr val="accent6"/>
              </a:solidFill>
            </a:endParaRPr>
          </a:p>
          <a:p>
            <a:r>
              <a:rPr lang="ja-JP" altLang="ja-JP" sz="1400" dirty="0"/>
              <a:t>②顧問先情報の整理の仕方については汎用性を持たせて欲しい</a:t>
            </a:r>
            <a:endParaRPr lang="en-US" altLang="ja-JP" sz="1400" dirty="0"/>
          </a:p>
          <a:p>
            <a:r>
              <a:rPr lang="ja-JP" altLang="en-US" sz="1400" dirty="0">
                <a:solidFill>
                  <a:schemeClr val="accent6"/>
                </a:solidFill>
              </a:rPr>
              <a:t>⇒下記画像参照</a:t>
            </a:r>
            <a:endParaRPr lang="ja-JP" altLang="ja-JP" sz="1400" dirty="0">
              <a:solidFill>
                <a:schemeClr val="accent6"/>
              </a:solidFill>
            </a:endParaRPr>
          </a:p>
          <a:p>
            <a:r>
              <a:rPr lang="ja-JP" altLang="ja-JP" sz="1400" dirty="0"/>
              <a:t>③</a:t>
            </a:r>
            <a:r>
              <a:rPr lang="en-US" altLang="ja-JP" sz="1400" dirty="0"/>
              <a:t>AI</a:t>
            </a:r>
            <a:r>
              <a:rPr lang="ja-JP" altLang="ja-JP" sz="1400" dirty="0"/>
              <a:t>を活用するため、会計事務所としては顧問先の情報が保護される仕組みが確立されていないと導入は厳しい。</a:t>
            </a:r>
            <a:endParaRPr lang="en-US" altLang="ja-JP" sz="1400" dirty="0"/>
          </a:p>
          <a:p>
            <a:r>
              <a:rPr lang="ja-JP" altLang="ja-JP" sz="1400" dirty="0"/>
              <a:t>④チャットボットについては、特にアバターが必要と感じていない会計事務所のあると思う。</a:t>
            </a:r>
          </a:p>
          <a:p>
            <a:endParaRPr kumimoji="1" lang="ja-JP" altLang="en-US" sz="900"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06B705FE-FC9D-2A45-F012-6A94DD0DF26E}"/>
              </a:ext>
            </a:extLst>
          </p:cNvPr>
          <p:cNvPicPr>
            <a:picLocks noChangeAspect="1"/>
          </p:cNvPicPr>
          <p:nvPr/>
        </p:nvPicPr>
        <p:blipFill>
          <a:blip r:embed="rId2"/>
          <a:srcRect t="13403" r="13584"/>
          <a:stretch>
            <a:fillRect/>
          </a:stretch>
        </p:blipFill>
        <p:spPr>
          <a:xfrm>
            <a:off x="271848" y="3709137"/>
            <a:ext cx="2148622" cy="371226"/>
          </a:xfrm>
          <a:prstGeom prst="rect">
            <a:avLst/>
          </a:prstGeom>
        </p:spPr>
      </p:pic>
      <p:pic>
        <p:nvPicPr>
          <p:cNvPr id="8" name="図 7">
            <a:extLst>
              <a:ext uri="{FF2B5EF4-FFF2-40B4-BE49-F238E27FC236}">
                <a16:creationId xmlns:a16="http://schemas.microsoft.com/office/drawing/2014/main" id="{AFC11D31-72E3-A268-8BA2-1004B727F787}"/>
              </a:ext>
            </a:extLst>
          </p:cNvPr>
          <p:cNvPicPr>
            <a:picLocks noChangeAspect="1"/>
          </p:cNvPicPr>
          <p:nvPr/>
        </p:nvPicPr>
        <p:blipFill>
          <a:blip r:embed="rId3"/>
          <a:stretch>
            <a:fillRect/>
          </a:stretch>
        </p:blipFill>
        <p:spPr>
          <a:xfrm>
            <a:off x="899378" y="4283094"/>
            <a:ext cx="2238687" cy="2495898"/>
          </a:xfrm>
          <a:prstGeom prst="rect">
            <a:avLst/>
          </a:prstGeom>
          <a:ln>
            <a:solidFill>
              <a:schemeClr val="accent6"/>
            </a:solidFill>
          </a:ln>
        </p:spPr>
      </p:pic>
      <p:sp>
        <p:nvSpPr>
          <p:cNvPr id="9" name="テキスト ボックス 8">
            <a:extLst>
              <a:ext uri="{FF2B5EF4-FFF2-40B4-BE49-F238E27FC236}">
                <a16:creationId xmlns:a16="http://schemas.microsoft.com/office/drawing/2014/main" id="{AC8606A3-00EA-4430-A743-4F6492BB3033}"/>
              </a:ext>
            </a:extLst>
          </p:cNvPr>
          <p:cNvSpPr txBox="1"/>
          <p:nvPr/>
        </p:nvSpPr>
        <p:spPr>
          <a:xfrm>
            <a:off x="3299011" y="4504764"/>
            <a:ext cx="5360893" cy="369332"/>
          </a:xfrm>
          <a:prstGeom prst="rect">
            <a:avLst/>
          </a:prstGeom>
          <a:solidFill>
            <a:schemeClr val="accent6">
              <a:lumMod val="20000"/>
              <a:lumOff val="80000"/>
            </a:schemeClr>
          </a:solidFill>
          <a:ln>
            <a:noFill/>
          </a:ln>
        </p:spPr>
        <p:txBody>
          <a:bodyPr wrap="square" rtlCol="0">
            <a:spAutoFit/>
          </a:bodyPr>
          <a:lstStyle/>
          <a:p>
            <a:r>
              <a:rPr kumimoji="1" lang="ja-JP" altLang="en-US" sz="900" dirty="0">
                <a:latin typeface="メイリオ" panose="020B0604030504040204" pitchFamily="50" charset="-128"/>
                <a:ea typeface="メイリオ" panose="020B0604030504040204" pitchFamily="50" charset="-128"/>
              </a:rPr>
              <a:t>汎用性＝ひな形を纏めておくフォルダ（①画像）の中に②の画像の通り、空のフォルダを作成</a:t>
            </a:r>
            <a:endParaRPr kumimoji="1" lang="en-US" altLang="ja-JP" sz="900" dirty="0">
              <a:latin typeface="メイリオ" panose="020B0604030504040204" pitchFamily="50" charset="-128"/>
              <a:ea typeface="メイリオ" panose="020B0604030504040204" pitchFamily="50" charset="-128"/>
            </a:endParaRPr>
          </a:p>
          <a:p>
            <a:r>
              <a:rPr kumimoji="1" lang="ja-JP" altLang="en-US" sz="900" dirty="0">
                <a:latin typeface="メイリオ" panose="020B0604030504040204" pitchFamily="50" charset="-128"/>
                <a:ea typeface="メイリオ" panose="020B0604030504040204" pitchFamily="50" charset="-128"/>
              </a:rPr>
              <a:t>これを顧客のデータ管理のページにデフォルトとして設定してほしい。</a:t>
            </a:r>
            <a:endParaRPr kumimoji="1" lang="en-US" altLang="ja-JP" sz="900" dirty="0">
              <a:latin typeface="メイリオ" panose="020B0604030504040204" pitchFamily="50" charset="-128"/>
              <a:ea typeface="メイリオ" panose="020B0604030504040204" pitchFamily="50" charset="-128"/>
            </a:endParaRPr>
          </a:p>
        </p:txBody>
      </p:sp>
      <p:cxnSp>
        <p:nvCxnSpPr>
          <p:cNvPr id="11" name="直線矢印コネクタ 10">
            <a:extLst>
              <a:ext uri="{FF2B5EF4-FFF2-40B4-BE49-F238E27FC236}">
                <a16:creationId xmlns:a16="http://schemas.microsoft.com/office/drawing/2014/main" id="{2165507A-7A8B-3978-EB39-D6EEB085ED6F}"/>
              </a:ext>
            </a:extLst>
          </p:cNvPr>
          <p:cNvCxnSpPr/>
          <p:nvPr/>
        </p:nvCxnSpPr>
        <p:spPr>
          <a:xfrm>
            <a:off x="1434352" y="4004972"/>
            <a:ext cx="313765" cy="5378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44F1F30C-3B4F-A61E-8EBA-961E01A6B526}"/>
              </a:ext>
            </a:extLst>
          </p:cNvPr>
          <p:cNvSpPr txBox="1"/>
          <p:nvPr/>
        </p:nvSpPr>
        <p:spPr>
          <a:xfrm>
            <a:off x="161365" y="3774140"/>
            <a:ext cx="349623" cy="230832"/>
          </a:xfrm>
          <a:prstGeom prst="rect">
            <a:avLst/>
          </a:prstGeom>
          <a:noFill/>
        </p:spPr>
        <p:txBody>
          <a:bodyPr wrap="square" rtlCol="0">
            <a:spAutoFit/>
          </a:bodyPr>
          <a:lstStyle/>
          <a:p>
            <a:r>
              <a:rPr kumimoji="1" lang="ja-JP" altLang="en-US" sz="900" dirty="0">
                <a:latin typeface="メイリオ" panose="020B0604030504040204" pitchFamily="50" charset="-128"/>
                <a:ea typeface="メイリオ" panose="020B0604030504040204" pitchFamily="50" charset="-128"/>
              </a:rPr>
              <a:t>①</a:t>
            </a:r>
          </a:p>
        </p:txBody>
      </p:sp>
      <p:sp>
        <p:nvSpPr>
          <p:cNvPr id="13" name="テキスト ボックス 12">
            <a:extLst>
              <a:ext uri="{FF2B5EF4-FFF2-40B4-BE49-F238E27FC236}">
                <a16:creationId xmlns:a16="http://schemas.microsoft.com/office/drawing/2014/main" id="{C1FC252D-BFA0-006C-6B05-B218E4FA087E}"/>
              </a:ext>
            </a:extLst>
          </p:cNvPr>
          <p:cNvSpPr txBox="1"/>
          <p:nvPr/>
        </p:nvSpPr>
        <p:spPr>
          <a:xfrm>
            <a:off x="923783" y="4283094"/>
            <a:ext cx="349623" cy="230832"/>
          </a:xfrm>
          <a:prstGeom prst="rect">
            <a:avLst/>
          </a:prstGeom>
          <a:noFill/>
        </p:spPr>
        <p:txBody>
          <a:bodyPr wrap="square" rtlCol="0">
            <a:spAutoFit/>
          </a:bodyPr>
          <a:lstStyle/>
          <a:p>
            <a:r>
              <a:rPr kumimoji="1" lang="ja-JP" altLang="en-US" sz="900" dirty="0">
                <a:latin typeface="メイリオ" panose="020B0604030504040204" pitchFamily="50" charset="-128"/>
                <a:ea typeface="メイリオ" panose="020B0604030504040204" pitchFamily="50" charset="-128"/>
              </a:rPr>
              <a:t>②</a:t>
            </a:r>
          </a:p>
        </p:txBody>
      </p:sp>
      <p:sp>
        <p:nvSpPr>
          <p:cNvPr id="14" name="テキスト ボックス 13">
            <a:extLst>
              <a:ext uri="{FF2B5EF4-FFF2-40B4-BE49-F238E27FC236}">
                <a16:creationId xmlns:a16="http://schemas.microsoft.com/office/drawing/2014/main" id="{82773864-6D1B-40CF-DB72-57A44E32A10C}"/>
              </a:ext>
            </a:extLst>
          </p:cNvPr>
          <p:cNvSpPr txBox="1"/>
          <p:nvPr/>
        </p:nvSpPr>
        <p:spPr>
          <a:xfrm>
            <a:off x="161365" y="243742"/>
            <a:ext cx="10757647" cy="95410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rPr>
              <a:t>先日共有させていただきましたアンケート結果に記載の通り、</a:t>
            </a:r>
            <a:r>
              <a:rPr lang="ja-JP" altLang="ja-JP" sz="1400" dirty="0">
                <a:latin typeface="メイリオ" panose="020B0604030504040204" pitchFamily="50" charset="-128"/>
                <a:ea typeface="メイリオ" panose="020B0604030504040204" pitchFamily="50" charset="-128"/>
              </a:rPr>
              <a:t>下記の機能があると便利</a:t>
            </a:r>
            <a:r>
              <a:rPr lang="ja-JP" altLang="en-US" sz="1400" dirty="0">
                <a:latin typeface="メイリオ" panose="020B0604030504040204" pitchFamily="50" charset="-128"/>
                <a:ea typeface="メイリオ" panose="020B0604030504040204" pitchFamily="50" charset="-128"/>
              </a:rPr>
              <a:t>との提案あり</a:t>
            </a:r>
            <a:r>
              <a:rPr lang="ja-JP" altLang="ja-JP" sz="1400" dirty="0">
                <a:latin typeface="メイリオ" panose="020B0604030504040204" pitchFamily="50" charset="-128"/>
                <a:ea typeface="メイリオ" panose="020B0604030504040204" pitchFamily="50" charset="-128"/>
              </a:rPr>
              <a:t>。</a:t>
            </a:r>
            <a:endParaRPr lang="en-US" altLang="ja-JP" sz="1400" dirty="0">
              <a:latin typeface="メイリオ" panose="020B0604030504040204" pitchFamily="50" charset="-128"/>
              <a:ea typeface="メイリオ" panose="020B0604030504040204" pitchFamily="50" charset="-128"/>
            </a:endParaRPr>
          </a:p>
          <a:p>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あくまでアンケート結果のため、現時点で追加できる機能、できない機能、又は今回申請の助成金の趣旨と相違がある場合がありますので、実装可能な場合の希望や補足を緑文字等で記載しています。</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別途打合せの際に詰めていければと存じます。</a:t>
            </a:r>
            <a:endParaRPr lang="en-US" altLang="ja-JP"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30263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0AFD307-FE04-BBFD-BE44-4A246F404422}"/>
              </a:ext>
            </a:extLst>
          </p:cNvPr>
          <p:cNvSpPr txBox="1"/>
          <p:nvPr/>
        </p:nvSpPr>
        <p:spPr>
          <a:xfrm>
            <a:off x="134471" y="98612"/>
            <a:ext cx="10990728" cy="1384995"/>
          </a:xfrm>
          <a:prstGeom prst="rect">
            <a:avLst/>
          </a:prstGeom>
          <a:noFill/>
          <a:ln>
            <a:noFill/>
          </a:ln>
        </p:spPr>
        <p:txBody>
          <a:bodyPr wrap="square" rtlCol="0">
            <a:spAutoFit/>
          </a:bodyPr>
          <a:lstStyle/>
          <a:p>
            <a:r>
              <a:rPr lang="ja-JP" altLang="ja-JP" sz="1400" dirty="0"/>
              <a:t>分析機能については追加できるようにしておいて欲しいです。</a:t>
            </a:r>
          </a:p>
          <a:p>
            <a:r>
              <a:rPr lang="ja-JP" altLang="ja-JP" sz="1400" dirty="0"/>
              <a:t>①異常値アラート機能</a:t>
            </a:r>
          </a:p>
          <a:p>
            <a:r>
              <a:rPr lang="ja-JP" altLang="ja-JP" sz="1400" dirty="0"/>
              <a:t>売上や経費が急増減した場合、</a:t>
            </a:r>
            <a:r>
              <a:rPr lang="en-US" altLang="ja-JP" sz="1400" dirty="0"/>
              <a:t>AI</a:t>
            </a:r>
            <a:r>
              <a:rPr lang="ja-JP" altLang="ja-JP" sz="1400" dirty="0"/>
              <a:t>が自動で通知。</a:t>
            </a:r>
            <a:endParaRPr lang="en-US" altLang="ja-JP" sz="1400" dirty="0"/>
          </a:p>
          <a:p>
            <a:r>
              <a:rPr lang="ja-JP" altLang="en-US" sz="1400" dirty="0">
                <a:solidFill>
                  <a:schemeClr val="accent6"/>
                </a:solidFill>
              </a:rPr>
              <a:t>⇒急増減の目安としては、パーセンテージでの設定を希望します。</a:t>
            </a:r>
            <a:endParaRPr lang="en-US" altLang="ja-JP" sz="1400" dirty="0">
              <a:solidFill>
                <a:schemeClr val="accent6"/>
              </a:solidFill>
            </a:endParaRPr>
          </a:p>
          <a:p>
            <a:r>
              <a:rPr lang="ja-JP" altLang="en-US" sz="1400" dirty="0">
                <a:solidFill>
                  <a:schemeClr val="accent6"/>
                </a:solidFill>
              </a:rPr>
              <a:t>　各会社毎に売上規模等比較できないためです。</a:t>
            </a:r>
            <a:endParaRPr lang="ja-JP" altLang="ja-JP" sz="1400" dirty="0">
              <a:solidFill>
                <a:schemeClr val="accent6"/>
              </a:solidFill>
            </a:endParaRPr>
          </a:p>
          <a:p>
            <a:endParaRPr kumimoji="1" lang="en-US" altLang="ja-JP" sz="700" dirty="0">
              <a:latin typeface="メイリオ" panose="020B0604030504040204" pitchFamily="50" charset="-128"/>
              <a:ea typeface="メイリオ" panose="020B0604030504040204" pitchFamily="50" charset="-128"/>
            </a:endParaRPr>
          </a:p>
          <a:p>
            <a:endParaRPr kumimoji="1" lang="ja-JP" altLang="en-US" sz="7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A4049C0-F26E-8FC3-5616-3FAE11014D4E}"/>
              </a:ext>
            </a:extLst>
          </p:cNvPr>
          <p:cNvSpPr txBox="1"/>
          <p:nvPr/>
        </p:nvSpPr>
        <p:spPr>
          <a:xfrm>
            <a:off x="134471" y="1277418"/>
            <a:ext cx="10990728" cy="3323987"/>
          </a:xfrm>
          <a:prstGeom prst="rect">
            <a:avLst/>
          </a:prstGeom>
          <a:noFill/>
          <a:ln>
            <a:noFill/>
          </a:ln>
        </p:spPr>
        <p:txBody>
          <a:bodyPr wrap="square" rtlCol="0">
            <a:spAutoFit/>
          </a:bodyPr>
          <a:lstStyle/>
          <a:p>
            <a:r>
              <a:rPr lang="ja-JP" altLang="ja-JP" sz="1400" dirty="0"/>
              <a:t>②税務リスク自動検知</a:t>
            </a:r>
          </a:p>
          <a:p>
            <a:r>
              <a:rPr lang="ja-JP" altLang="ja-JP" sz="1400" dirty="0"/>
              <a:t>交際費限度額超過、減価償却計算の抜け漏れ、消費税の課税</a:t>
            </a:r>
            <a:r>
              <a:rPr lang="en-US" altLang="ja-JP" sz="1400" dirty="0"/>
              <a:t>/</a:t>
            </a:r>
            <a:r>
              <a:rPr lang="ja-JP" altLang="ja-JP" sz="1400" dirty="0"/>
              <a:t>非課税ミスなどを</a:t>
            </a:r>
            <a:r>
              <a:rPr lang="en-US" altLang="ja-JP" sz="1400" dirty="0"/>
              <a:t>AI</a:t>
            </a:r>
            <a:r>
              <a:rPr lang="ja-JP" altLang="ja-JP" sz="1400" dirty="0"/>
              <a:t>がチェック。</a:t>
            </a:r>
            <a:endParaRPr lang="en-US" altLang="ja-JP" sz="1400" dirty="0"/>
          </a:p>
          <a:p>
            <a:r>
              <a:rPr lang="ja-JP" altLang="en-US" sz="1400" dirty="0">
                <a:solidFill>
                  <a:schemeClr val="accent6"/>
                </a:solidFill>
              </a:rPr>
              <a:t>　交際費：</a:t>
            </a:r>
            <a:r>
              <a:rPr lang="en-US" altLang="ja-JP" sz="1400" dirty="0">
                <a:solidFill>
                  <a:schemeClr val="accent6"/>
                </a:solidFill>
              </a:rPr>
              <a:t>800</a:t>
            </a:r>
            <a:r>
              <a:rPr lang="ja-JP" altLang="en-US" sz="1400" dirty="0">
                <a:solidFill>
                  <a:schemeClr val="accent6"/>
                </a:solidFill>
              </a:rPr>
              <a:t>万円以上は計上不可⇒</a:t>
            </a:r>
            <a:r>
              <a:rPr lang="en-US" altLang="ja-JP" sz="1400" dirty="0">
                <a:solidFill>
                  <a:schemeClr val="accent6"/>
                </a:solidFill>
              </a:rPr>
              <a:t>800</a:t>
            </a:r>
            <a:r>
              <a:rPr lang="ja-JP" altLang="en-US" sz="1400" dirty="0">
                <a:solidFill>
                  <a:schemeClr val="accent6"/>
                </a:solidFill>
              </a:rPr>
              <a:t>万円を超えたら計上できないよとアナウンスするのみ</a:t>
            </a:r>
            <a:endParaRPr lang="en-US" altLang="ja-JP" sz="1400" dirty="0">
              <a:solidFill>
                <a:schemeClr val="accent6"/>
              </a:solidFill>
            </a:endParaRPr>
          </a:p>
          <a:p>
            <a:r>
              <a:rPr lang="ja-JP" altLang="en-US" sz="1400" dirty="0">
                <a:solidFill>
                  <a:schemeClr val="accent6"/>
                </a:solidFill>
              </a:rPr>
              <a:t>　減価償却費：</a:t>
            </a:r>
            <a:endParaRPr lang="en-US" altLang="ja-JP" sz="1400" dirty="0">
              <a:solidFill>
                <a:schemeClr val="accent6"/>
              </a:solidFill>
            </a:endParaRPr>
          </a:p>
          <a:p>
            <a:r>
              <a:rPr lang="ja-JP" altLang="en-US" sz="1400" dirty="0">
                <a:solidFill>
                  <a:schemeClr val="accent6"/>
                </a:solidFill>
              </a:rPr>
              <a:t>　消費税の課税</a:t>
            </a:r>
            <a:r>
              <a:rPr lang="en-US" altLang="ja-JP" sz="1400" dirty="0">
                <a:solidFill>
                  <a:schemeClr val="accent6"/>
                </a:solidFill>
              </a:rPr>
              <a:t>/</a:t>
            </a:r>
            <a:r>
              <a:rPr lang="ja-JP" altLang="en-US" sz="1400" dirty="0">
                <a:solidFill>
                  <a:schemeClr val="accent6"/>
                </a:solidFill>
              </a:rPr>
              <a:t>非課税：ミスが起こりやすいのは「軽減税率</a:t>
            </a:r>
            <a:r>
              <a:rPr lang="en-US" altLang="ja-JP" sz="1400" dirty="0">
                <a:solidFill>
                  <a:schemeClr val="accent6"/>
                </a:solidFill>
              </a:rPr>
              <a:t>8</a:t>
            </a:r>
            <a:r>
              <a:rPr lang="ja-JP" altLang="en-US" sz="1400" dirty="0">
                <a:solidFill>
                  <a:schemeClr val="accent6"/>
                </a:solidFill>
              </a:rPr>
              <a:t>％</a:t>
            </a:r>
            <a:r>
              <a:rPr lang="en-US" altLang="ja-JP" sz="1400" dirty="0">
                <a:solidFill>
                  <a:schemeClr val="accent6"/>
                </a:solidFill>
              </a:rPr>
              <a:t>(</a:t>
            </a:r>
            <a:r>
              <a:rPr lang="ja-JP" altLang="en-US" sz="1400" dirty="0">
                <a:solidFill>
                  <a:schemeClr val="accent6"/>
                </a:solidFill>
              </a:rPr>
              <a:t>食料品等</a:t>
            </a:r>
            <a:r>
              <a:rPr lang="en-US" altLang="ja-JP" sz="1400" dirty="0">
                <a:solidFill>
                  <a:schemeClr val="accent6"/>
                </a:solidFill>
              </a:rPr>
              <a:t>)</a:t>
            </a:r>
            <a:r>
              <a:rPr lang="ja-JP" altLang="en-US" sz="1400" dirty="0">
                <a:solidFill>
                  <a:schemeClr val="accent6"/>
                </a:solidFill>
              </a:rPr>
              <a:t>」「助成金」「インボイス登録の有無」の仕訳</a:t>
            </a:r>
            <a:endParaRPr lang="en-US" altLang="ja-JP" sz="1400" dirty="0">
              <a:solidFill>
                <a:schemeClr val="accent6"/>
              </a:solidFill>
            </a:endParaRPr>
          </a:p>
          <a:p>
            <a:r>
              <a:rPr lang="ja-JP" altLang="en-US" sz="1400" dirty="0">
                <a:solidFill>
                  <a:schemeClr val="accent6"/>
                </a:solidFill>
              </a:rPr>
              <a:t>　</a:t>
            </a:r>
            <a:r>
              <a:rPr lang="en-US" altLang="ja-JP" sz="1400" dirty="0">
                <a:solidFill>
                  <a:schemeClr val="accent6"/>
                </a:solidFill>
              </a:rPr>
              <a:t>※</a:t>
            </a:r>
            <a:r>
              <a:rPr lang="ja-JP" altLang="en-US" sz="1400" dirty="0">
                <a:solidFill>
                  <a:schemeClr val="accent6"/>
                </a:solidFill>
              </a:rPr>
              <a:t>あくまでミスがないかを促すのみで問題ありません。</a:t>
            </a:r>
            <a:endParaRPr lang="en-US" altLang="ja-JP" sz="1400" dirty="0">
              <a:solidFill>
                <a:schemeClr val="accent6"/>
              </a:solidFill>
            </a:endParaRPr>
          </a:p>
          <a:p>
            <a:r>
              <a:rPr lang="ja-JP" altLang="en-US" sz="1400" dirty="0">
                <a:solidFill>
                  <a:schemeClr val="accent6"/>
                </a:solidFill>
              </a:rPr>
              <a:t>　　消費税</a:t>
            </a:r>
            <a:r>
              <a:rPr lang="en-US" altLang="ja-JP" sz="1400" dirty="0">
                <a:solidFill>
                  <a:schemeClr val="accent6"/>
                </a:solidFill>
              </a:rPr>
              <a:t>/1</a:t>
            </a:r>
            <a:r>
              <a:rPr lang="ja-JP" altLang="en-US" sz="1400" dirty="0">
                <a:solidFill>
                  <a:schemeClr val="accent6"/>
                </a:solidFill>
              </a:rPr>
              <a:t>．非課税事業者　</a:t>
            </a:r>
            <a:r>
              <a:rPr lang="en-US" altLang="ja-JP" sz="1400" dirty="0">
                <a:solidFill>
                  <a:schemeClr val="accent6"/>
                </a:solidFill>
              </a:rPr>
              <a:t>2</a:t>
            </a:r>
            <a:r>
              <a:rPr lang="ja-JP" altLang="en-US" sz="1400" dirty="0">
                <a:solidFill>
                  <a:schemeClr val="accent6"/>
                </a:solidFill>
              </a:rPr>
              <a:t>．課税事業者 ⑴簡易　⑵本則　消費税はこの枠組みです。</a:t>
            </a:r>
            <a:endParaRPr lang="en-US" altLang="ja-JP" sz="1400" dirty="0">
              <a:solidFill>
                <a:schemeClr val="accent6"/>
              </a:solidFill>
            </a:endParaRPr>
          </a:p>
          <a:p>
            <a:r>
              <a:rPr lang="ja-JP" altLang="en-US" sz="1400" dirty="0">
                <a:solidFill>
                  <a:schemeClr val="accent6"/>
                </a:solidFill>
              </a:rPr>
              <a:t>　　</a:t>
            </a:r>
            <a:r>
              <a:rPr lang="en-US" altLang="ja-JP" sz="1400" dirty="0">
                <a:solidFill>
                  <a:schemeClr val="accent6"/>
                </a:solidFill>
              </a:rPr>
              <a:t>1</a:t>
            </a:r>
            <a:r>
              <a:rPr lang="ja-JP" altLang="en-US" sz="1400" dirty="0">
                <a:solidFill>
                  <a:schemeClr val="accent6"/>
                </a:solidFill>
              </a:rPr>
              <a:t>．非課税事業者については、この機能は重要ではありませんが機能は同様に表示させてください。</a:t>
            </a:r>
            <a:endParaRPr lang="en-US" altLang="ja-JP" sz="1400" dirty="0">
              <a:solidFill>
                <a:schemeClr val="accent6"/>
              </a:solidFill>
            </a:endParaRPr>
          </a:p>
          <a:p>
            <a:r>
              <a:rPr lang="ja-JP" altLang="en-US" sz="1400" dirty="0">
                <a:solidFill>
                  <a:schemeClr val="accent6"/>
                </a:solidFill>
              </a:rPr>
              <a:t>　　　  非課税から課税事業者に変更となる可能性があるためです。</a:t>
            </a:r>
            <a:endParaRPr lang="en-US" altLang="ja-JP" sz="1400" dirty="0">
              <a:solidFill>
                <a:schemeClr val="accent6"/>
              </a:solidFill>
            </a:endParaRPr>
          </a:p>
          <a:p>
            <a:r>
              <a:rPr lang="ja-JP" altLang="en-US" sz="1400" dirty="0">
                <a:solidFill>
                  <a:schemeClr val="accent6"/>
                </a:solidFill>
              </a:rPr>
              <a:t>　</a:t>
            </a:r>
            <a:r>
              <a:rPr lang="en-US" altLang="ja-JP" sz="1400" dirty="0">
                <a:solidFill>
                  <a:schemeClr val="accent6"/>
                </a:solidFill>
              </a:rPr>
              <a:t>※</a:t>
            </a:r>
            <a:r>
              <a:rPr lang="ja-JP" altLang="en-US" sz="1400" dirty="0">
                <a:solidFill>
                  <a:schemeClr val="accent6"/>
                </a:solidFill>
              </a:rPr>
              <a:t>このチェック機能については、取引先や品目等、該当するであろう項目について、</a:t>
            </a:r>
            <a:endParaRPr lang="en-US" altLang="ja-JP" sz="1400" dirty="0">
              <a:solidFill>
                <a:schemeClr val="accent6"/>
              </a:solidFill>
            </a:endParaRPr>
          </a:p>
          <a:p>
            <a:r>
              <a:rPr lang="ja-JP" altLang="en-US" sz="1400" dirty="0">
                <a:solidFill>
                  <a:schemeClr val="accent6"/>
                </a:solidFill>
              </a:rPr>
              <a:t>　　消費税の括りが間違っていないか、というアナウンスを</a:t>
            </a:r>
            <a:endParaRPr lang="en-US" altLang="ja-JP" sz="1400" dirty="0">
              <a:solidFill>
                <a:schemeClr val="accent6"/>
              </a:solidFill>
            </a:endParaRPr>
          </a:p>
          <a:p>
            <a:r>
              <a:rPr lang="ja-JP" altLang="en-US" sz="1400" dirty="0">
                <a:solidFill>
                  <a:schemeClr val="accent6"/>
                </a:solidFill>
              </a:rPr>
              <a:t>　　一画面に一覧で表示して促すような形でいいと思います。</a:t>
            </a:r>
            <a:endParaRPr lang="en-US" altLang="ja-JP" sz="1400" dirty="0">
              <a:solidFill>
                <a:schemeClr val="accent6"/>
              </a:solidFill>
            </a:endParaRPr>
          </a:p>
          <a:p>
            <a:r>
              <a:rPr lang="ja-JP" altLang="en-US" sz="1400" dirty="0">
                <a:solidFill>
                  <a:schemeClr val="accent6"/>
                </a:solidFill>
              </a:rPr>
              <a:t>　　表示項目は総勘定元帳や補助元帳、科目別税区分表を</a:t>
            </a:r>
            <a:r>
              <a:rPr lang="en-US" altLang="ja-JP" sz="1400" dirty="0">
                <a:solidFill>
                  <a:schemeClr val="accent6"/>
                </a:solidFill>
              </a:rPr>
              <a:t>AI</a:t>
            </a:r>
            <a:r>
              <a:rPr lang="ja-JP" altLang="en-US" sz="1400" dirty="0">
                <a:solidFill>
                  <a:schemeClr val="accent6"/>
                </a:solidFill>
              </a:rPr>
              <a:t>がチェックすれば確認できます。</a:t>
            </a:r>
            <a:endParaRPr lang="en-US" altLang="ja-JP" sz="1400" dirty="0">
              <a:solidFill>
                <a:schemeClr val="accent6"/>
              </a:solidFill>
            </a:endParaRPr>
          </a:p>
          <a:p>
            <a:r>
              <a:rPr lang="ja-JP" altLang="en-US" sz="1400" dirty="0">
                <a:solidFill>
                  <a:schemeClr val="accent6"/>
                </a:solidFill>
              </a:rPr>
              <a:t>　　　</a:t>
            </a:r>
            <a:r>
              <a:rPr lang="ja-JP" altLang="en-US" sz="1400" u="sng" dirty="0">
                <a:solidFill>
                  <a:schemeClr val="accent6"/>
                </a:solidFill>
              </a:rPr>
              <a:t>日付、科目、補助科目、摘要、相手科目、金額、消費税区分</a:t>
            </a:r>
            <a:endParaRPr lang="ja-JP" altLang="ja-JP" sz="1400" u="sng" dirty="0">
              <a:solidFill>
                <a:schemeClr val="accent6"/>
              </a:solidFill>
            </a:endParaRPr>
          </a:p>
          <a:p>
            <a:endParaRPr kumimoji="1" lang="en-US" altLang="ja-JP" sz="700" dirty="0">
              <a:latin typeface="メイリオ" panose="020B0604030504040204" pitchFamily="50" charset="-128"/>
              <a:ea typeface="メイリオ" panose="020B0604030504040204" pitchFamily="50" charset="-128"/>
            </a:endParaRPr>
          </a:p>
          <a:p>
            <a:endParaRPr kumimoji="1" lang="ja-JP" altLang="en-US" sz="700" dirty="0">
              <a:latin typeface="メイリオ" panose="020B0604030504040204" pitchFamily="50" charset="-128"/>
              <a:ea typeface="メイリオ" panose="020B0604030504040204" pitchFamily="50" charset="-128"/>
            </a:endParaRPr>
          </a:p>
        </p:txBody>
      </p:sp>
      <p:pic>
        <p:nvPicPr>
          <p:cNvPr id="8" name="図 7">
            <a:extLst>
              <a:ext uri="{FF2B5EF4-FFF2-40B4-BE49-F238E27FC236}">
                <a16:creationId xmlns:a16="http://schemas.microsoft.com/office/drawing/2014/main" id="{F1CAE436-5618-7275-EDA6-31A149FACE71}"/>
              </a:ext>
            </a:extLst>
          </p:cNvPr>
          <p:cNvPicPr>
            <a:picLocks noChangeAspect="1"/>
          </p:cNvPicPr>
          <p:nvPr/>
        </p:nvPicPr>
        <p:blipFill>
          <a:blip r:embed="rId2"/>
          <a:stretch>
            <a:fillRect/>
          </a:stretch>
        </p:blipFill>
        <p:spPr>
          <a:xfrm>
            <a:off x="7738493" y="3348334"/>
            <a:ext cx="4137049" cy="3411049"/>
          </a:xfrm>
          <a:prstGeom prst="rect">
            <a:avLst/>
          </a:prstGeom>
          <a:ln>
            <a:solidFill>
              <a:srgbClr val="FF0000"/>
            </a:solidFill>
          </a:ln>
        </p:spPr>
      </p:pic>
      <p:sp>
        <p:nvSpPr>
          <p:cNvPr id="9" name="四角形: 角を丸くする 8">
            <a:extLst>
              <a:ext uri="{FF2B5EF4-FFF2-40B4-BE49-F238E27FC236}">
                <a16:creationId xmlns:a16="http://schemas.microsoft.com/office/drawing/2014/main" id="{35225468-EB85-2CCE-EA49-A11CB2971374}"/>
              </a:ext>
            </a:extLst>
          </p:cNvPr>
          <p:cNvSpPr/>
          <p:nvPr/>
        </p:nvSpPr>
        <p:spPr>
          <a:xfrm>
            <a:off x="9093346" y="3160059"/>
            <a:ext cx="1604683" cy="26894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総勘定元帳</a:t>
            </a:r>
          </a:p>
        </p:txBody>
      </p:sp>
      <p:cxnSp>
        <p:nvCxnSpPr>
          <p:cNvPr id="10" name="直線矢印コネクタ 9">
            <a:extLst>
              <a:ext uri="{FF2B5EF4-FFF2-40B4-BE49-F238E27FC236}">
                <a16:creationId xmlns:a16="http://schemas.microsoft.com/office/drawing/2014/main" id="{0D2A3061-2BED-AC45-5183-E06A20BFB399}"/>
              </a:ext>
            </a:extLst>
          </p:cNvPr>
          <p:cNvCxnSpPr>
            <a:cxnSpLocks/>
          </p:cNvCxnSpPr>
          <p:nvPr/>
        </p:nvCxnSpPr>
        <p:spPr>
          <a:xfrm>
            <a:off x="5629835" y="4224690"/>
            <a:ext cx="210865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E7934458-B9F5-711A-2111-B2F87F6733AF}"/>
              </a:ext>
            </a:extLst>
          </p:cNvPr>
          <p:cNvSpPr txBox="1"/>
          <p:nvPr/>
        </p:nvSpPr>
        <p:spPr>
          <a:xfrm>
            <a:off x="2205608" y="4903710"/>
            <a:ext cx="4495799" cy="923330"/>
          </a:xfrm>
          <a:prstGeom prst="rect">
            <a:avLst/>
          </a:prstGeom>
          <a:noFill/>
          <a:ln>
            <a:noFill/>
          </a:ln>
        </p:spPr>
        <p:txBody>
          <a:bodyPr wrap="square" rtlCol="0">
            <a:spAutoFit/>
          </a:bodyPr>
          <a:lstStyle/>
          <a:p>
            <a:r>
              <a:rPr lang="ja-JP" altLang="en-US" sz="900" dirty="0">
                <a:latin typeface="メイリオ" panose="020B0604030504040204" pitchFamily="50" charset="-128"/>
                <a:ea typeface="メイリオ" panose="020B0604030504040204" pitchFamily="50" charset="-128"/>
              </a:rPr>
              <a:t>このような一覧表示でよいかと。</a:t>
            </a:r>
            <a:endParaRPr lang="en-US" altLang="ja-JP" sz="900" dirty="0">
              <a:latin typeface="メイリオ" panose="020B0604030504040204" pitchFamily="50" charset="-128"/>
              <a:ea typeface="メイリオ" panose="020B0604030504040204" pitchFamily="50" charset="-128"/>
            </a:endParaRPr>
          </a:p>
          <a:p>
            <a:r>
              <a:rPr kumimoji="1" lang="ja-JP" altLang="en-US" sz="900" dirty="0">
                <a:latin typeface="メイリオ" panose="020B0604030504040204" pitchFamily="50" charset="-128"/>
                <a:ea typeface="メイリオ" panose="020B0604030504040204" pitchFamily="50" charset="-128"/>
              </a:rPr>
              <a:t>普通預金の部分に「消費税確認一覧」のような文字があれば、消費税の確認になるかと思います。</a:t>
            </a:r>
            <a:endParaRPr kumimoji="1" lang="en-US" altLang="ja-JP" sz="900" dirty="0">
              <a:latin typeface="メイリオ" panose="020B0604030504040204" pitchFamily="50" charset="-128"/>
              <a:ea typeface="メイリオ" panose="020B0604030504040204" pitchFamily="50" charset="-128"/>
            </a:endParaRPr>
          </a:p>
          <a:p>
            <a:endParaRPr lang="en-US" altLang="ja-JP" sz="900" dirty="0">
              <a:latin typeface="メイリオ" panose="020B0604030504040204" pitchFamily="50" charset="-128"/>
              <a:ea typeface="メイリオ" panose="020B0604030504040204" pitchFamily="50" charset="-128"/>
            </a:endParaRPr>
          </a:p>
          <a:p>
            <a:r>
              <a:rPr kumimoji="1" lang="en-US" altLang="ja-JP" sz="900" dirty="0">
                <a:latin typeface="メイリオ" panose="020B0604030504040204" pitchFamily="50" charset="-128"/>
                <a:ea typeface="メイリオ" panose="020B0604030504040204" pitchFamily="50" charset="-128"/>
              </a:rPr>
              <a:t>※</a:t>
            </a:r>
            <a:r>
              <a:rPr kumimoji="1" lang="ja-JP" altLang="en-US" sz="900" dirty="0">
                <a:latin typeface="メイリオ" panose="020B0604030504040204" pitchFamily="50" charset="-128"/>
                <a:ea typeface="メイリオ" panose="020B0604030504040204" pitchFamily="50" charset="-128"/>
              </a:rPr>
              <a:t>総勘定元帳等のダウンロード資料から、このようにこれが違うと抜き出すことは</a:t>
            </a:r>
            <a:endParaRPr kumimoji="1" lang="en-US" altLang="ja-JP" sz="900" dirty="0">
              <a:latin typeface="メイリオ" panose="020B0604030504040204" pitchFamily="50" charset="-128"/>
              <a:ea typeface="メイリオ" panose="020B0604030504040204" pitchFamily="50" charset="-128"/>
            </a:endParaRPr>
          </a:p>
          <a:p>
            <a:r>
              <a:rPr lang="ja-JP" altLang="en-US" sz="900" dirty="0">
                <a:latin typeface="メイリオ" panose="020B0604030504040204" pitchFamily="50" charset="-128"/>
                <a:ea typeface="メイリオ" panose="020B0604030504040204" pitchFamily="50" charset="-128"/>
              </a:rPr>
              <a:t>そもそもで可能でしょうか？</a:t>
            </a:r>
            <a:endParaRPr kumimoji="1" lang="ja-JP" alt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08928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FCC28BC-366D-AC3E-AD9D-6E77C377AB10}"/>
              </a:ext>
            </a:extLst>
          </p:cNvPr>
          <p:cNvSpPr txBox="1"/>
          <p:nvPr/>
        </p:nvSpPr>
        <p:spPr>
          <a:xfrm>
            <a:off x="197224" y="143435"/>
            <a:ext cx="10990728" cy="2354491"/>
          </a:xfrm>
          <a:prstGeom prst="rect">
            <a:avLst/>
          </a:prstGeom>
          <a:noFill/>
          <a:ln>
            <a:noFill/>
          </a:ln>
        </p:spPr>
        <p:txBody>
          <a:bodyPr wrap="square" rtlCol="0">
            <a:spAutoFit/>
          </a:bodyPr>
          <a:lstStyle/>
          <a:p>
            <a:r>
              <a:rPr lang="ja-JP" altLang="ja-JP" sz="1400" dirty="0"/>
              <a:t>③業界ベンチマーク比較</a:t>
            </a:r>
          </a:p>
          <a:p>
            <a:r>
              <a:rPr lang="ja-JP" altLang="ja-JP" sz="1400" dirty="0"/>
              <a:t>蓄積データを業種平均や地域平均と比較できる。</a:t>
            </a:r>
            <a:endParaRPr lang="en-US" altLang="ja-JP" sz="1400" dirty="0"/>
          </a:p>
          <a:p>
            <a:r>
              <a:rPr lang="ja-JP" altLang="en-US" sz="1400" dirty="0">
                <a:solidFill>
                  <a:schemeClr val="accent6"/>
                </a:solidFill>
              </a:rPr>
              <a:t>⇒業種平均や地域平均との比較は、</a:t>
            </a:r>
            <a:r>
              <a:rPr lang="en-US" altLang="ja-JP" sz="1400" dirty="0">
                <a:solidFill>
                  <a:schemeClr val="accent6"/>
                </a:solidFill>
              </a:rPr>
              <a:t>clause</a:t>
            </a:r>
            <a:r>
              <a:rPr lang="ja-JP" altLang="en-US" sz="1400" dirty="0">
                <a:solidFill>
                  <a:schemeClr val="accent6"/>
                </a:solidFill>
              </a:rPr>
              <a:t>では出来ない部分かと思いますので、こちらは現時点で必要ありません。</a:t>
            </a:r>
            <a:endParaRPr lang="ja-JP" altLang="ja-JP" sz="1400" dirty="0">
              <a:solidFill>
                <a:schemeClr val="accent6"/>
              </a:solidFill>
            </a:endParaRPr>
          </a:p>
          <a:p>
            <a:r>
              <a:rPr lang="ja-JP" altLang="ja-JP" sz="1400" dirty="0"/>
              <a:t>③節税シミュレーション</a:t>
            </a:r>
          </a:p>
          <a:p>
            <a:r>
              <a:rPr lang="ja-JP" altLang="ja-JP" sz="1400" dirty="0"/>
              <a:t>設備投資、役員報酬設定、保険加入などを入力すると「節税額の見込み」を試算。</a:t>
            </a:r>
            <a:endParaRPr lang="en-US" altLang="ja-JP" sz="1400" dirty="0"/>
          </a:p>
          <a:p>
            <a:r>
              <a:rPr lang="ja-JP" altLang="en-US" sz="1400" dirty="0"/>
              <a:t>⇒</a:t>
            </a:r>
            <a:endParaRPr lang="ja-JP" altLang="ja-JP" sz="1400" dirty="0"/>
          </a:p>
          <a:p>
            <a:r>
              <a:rPr lang="ja-JP" altLang="ja-JP" sz="1400" dirty="0"/>
              <a:t>④コスト品目分析</a:t>
            </a:r>
          </a:p>
          <a:p>
            <a:r>
              <a:rPr lang="ja-JP" altLang="ja-JP" sz="1400" dirty="0"/>
              <a:t>取引先や金額から、電気代、ガス代など品目を自動検出し、品目別でのコストを可視化。</a:t>
            </a:r>
            <a:endParaRPr lang="en-US" altLang="ja-JP" sz="1400" dirty="0"/>
          </a:p>
          <a:p>
            <a:r>
              <a:rPr lang="ja-JP" altLang="en-US" sz="1400" dirty="0">
                <a:solidFill>
                  <a:schemeClr val="accent6"/>
                </a:solidFill>
              </a:rPr>
              <a:t>⇒こちらも総勘定元帳や補助元帳のダウンロード資料から検出となる。</a:t>
            </a:r>
            <a:endParaRPr lang="en-US" altLang="ja-JP" sz="1400" dirty="0">
              <a:solidFill>
                <a:schemeClr val="accent6"/>
              </a:solidFill>
            </a:endParaRPr>
          </a:p>
          <a:p>
            <a:r>
              <a:rPr lang="ja-JP" altLang="en-US" sz="1400" dirty="0">
                <a:solidFill>
                  <a:schemeClr val="accent6"/>
                </a:solidFill>
              </a:rPr>
              <a:t>　費用内訳比較がすでに機能としてあるので、そちらで構いません。</a:t>
            </a:r>
            <a:endParaRPr lang="ja-JP" altLang="ja-JP" sz="1400" dirty="0">
              <a:solidFill>
                <a:schemeClr val="accent6"/>
              </a:solidFill>
            </a:endParaRPr>
          </a:p>
          <a:p>
            <a:endParaRPr kumimoji="1" lang="ja-JP" alt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64805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8E00DD1-6610-4B11-D050-E119E1C774F4}"/>
              </a:ext>
            </a:extLst>
          </p:cNvPr>
          <p:cNvSpPr txBox="1"/>
          <p:nvPr/>
        </p:nvSpPr>
        <p:spPr>
          <a:xfrm>
            <a:off x="197224" y="143435"/>
            <a:ext cx="10990728" cy="2462213"/>
          </a:xfrm>
          <a:prstGeom prst="rect">
            <a:avLst/>
          </a:prstGeom>
          <a:noFill/>
          <a:ln>
            <a:noFill/>
          </a:ln>
        </p:spPr>
        <p:txBody>
          <a:bodyPr wrap="square" rtlCol="0">
            <a:spAutoFit/>
          </a:bodyPr>
          <a:lstStyle/>
          <a:p>
            <a:r>
              <a:rPr lang="ja-JP" altLang="en-US" sz="1400" dirty="0"/>
              <a:t>専用</a:t>
            </a:r>
            <a:r>
              <a:rPr lang="en-US" altLang="ja-JP" sz="1400" dirty="0"/>
              <a:t>RAG</a:t>
            </a:r>
            <a:r>
              <a:rPr lang="ja-JP" altLang="en-US" sz="1400" dirty="0"/>
              <a:t>システム開発前確認資料</a:t>
            </a:r>
            <a:endParaRPr lang="en-US" altLang="ja-JP" sz="1400" dirty="0"/>
          </a:p>
          <a:p>
            <a:endParaRPr kumimoji="1"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rPr>
              <a:t>5</a:t>
            </a:r>
            <a:r>
              <a:rPr lang="ja-JP" altLang="en-US" sz="1400" dirty="0">
                <a:latin typeface="メイリオ" panose="020B0604030504040204" pitchFamily="50" charset="-128"/>
                <a:ea typeface="メイリオ" panose="020B0604030504040204" pitchFamily="50" charset="-128"/>
              </a:rPr>
              <a:t>．確認事項について</a:t>
            </a:r>
            <a:endParaRPr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rPr>
              <a:t>1</a:t>
            </a:r>
            <a:r>
              <a:rPr lang="ja-JP" altLang="en-US" sz="1400" dirty="0">
                <a:latin typeface="メイリオ" panose="020B0604030504040204" pitchFamily="50" charset="-128"/>
                <a:ea typeface="メイリオ" panose="020B0604030504040204" pitchFamily="50" charset="-128"/>
              </a:rPr>
              <a:t>．利用する会計ソフト</a:t>
            </a:r>
            <a:endParaRPr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　　　　①弥生会計（最優先）</a:t>
            </a:r>
            <a:endParaRPr kumimoji="1"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②</a:t>
            </a:r>
            <a:r>
              <a:rPr lang="en-US" altLang="ja-JP" sz="1400" dirty="0" err="1">
                <a:latin typeface="メイリオ" panose="020B0604030504040204" pitchFamily="50" charset="-128"/>
                <a:ea typeface="メイリオ" panose="020B0604030504040204" pitchFamily="50" charset="-128"/>
              </a:rPr>
              <a:t>freee</a:t>
            </a:r>
            <a:endParaRPr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　　　　③マネーフォワード</a:t>
            </a:r>
            <a:endParaRPr kumimoji="1" lang="en-US" altLang="ja-JP" sz="1400" dirty="0">
              <a:latin typeface="メイリオ" panose="020B0604030504040204" pitchFamily="50" charset="-128"/>
              <a:ea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　　</a:t>
            </a:r>
            <a:r>
              <a:rPr kumimoji="1" lang="en-US" altLang="ja-JP" sz="1400" dirty="0">
                <a:latin typeface="メイリオ" panose="020B0604030504040204" pitchFamily="50" charset="-128"/>
                <a:ea typeface="メイリオ" panose="020B0604030504040204" pitchFamily="50" charset="-128"/>
              </a:rPr>
              <a:t>2</a:t>
            </a:r>
            <a:r>
              <a:rPr kumimoji="1" lang="ja-JP" altLang="en-US" sz="1400" dirty="0">
                <a:latin typeface="メイリオ" panose="020B0604030504040204" pitchFamily="50" charset="-128"/>
                <a:ea typeface="メイリオ" panose="020B0604030504040204" pitchFamily="50" charset="-128"/>
              </a:rPr>
              <a:t>．サンプルデータの共有</a:t>
            </a:r>
            <a:endParaRPr kumimoji="1"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メールに仕訳帳・試算表の</a:t>
            </a:r>
            <a:r>
              <a:rPr lang="en-US" altLang="ja-JP" sz="1400" dirty="0">
                <a:latin typeface="メイリオ" panose="020B0604030504040204" pitchFamily="50" charset="-128"/>
                <a:ea typeface="メイリオ" panose="020B0604030504040204" pitchFamily="50" charset="-128"/>
              </a:rPr>
              <a:t>CSV</a:t>
            </a:r>
            <a:r>
              <a:rPr lang="ja-JP" altLang="en-US" sz="1400" dirty="0">
                <a:latin typeface="メイリオ" panose="020B0604030504040204" pitchFamily="50" charset="-128"/>
                <a:ea typeface="メイリオ" panose="020B0604030504040204" pitchFamily="50" charset="-128"/>
              </a:rPr>
              <a:t>を添付します。</a:t>
            </a:r>
            <a:endParaRPr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　　　　</a:t>
            </a:r>
            <a:endParaRPr kumimoji="1" lang="ja-JP" alt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15981117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881</Words>
  <Application>Microsoft Office PowerPoint</Application>
  <PresentationFormat>ワイド画面</PresentationFormat>
  <Paragraphs>63</Paragraphs>
  <Slides>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vt:i4>
      </vt:variant>
    </vt:vector>
  </HeadingPairs>
  <TitlesOfParts>
    <vt:vector size="9" baseType="lpstr">
      <vt:lpstr>メイリオ</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章子 中澤</dc:creator>
  <cp:lastModifiedBy>章子 中澤</cp:lastModifiedBy>
  <cp:revision>1</cp:revision>
  <dcterms:created xsi:type="dcterms:W3CDTF">2025-10-17T02:55:48Z</dcterms:created>
  <dcterms:modified xsi:type="dcterms:W3CDTF">2025-10-17T04:00:38Z</dcterms:modified>
</cp:coreProperties>
</file>